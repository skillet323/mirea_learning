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15.jpg" ContentType="image/jpg"/>
  <Override PartName="/ppt/notesSlides/notesSlide11.xml" ContentType="application/vnd.openxmlformats-officedocument.presentationml.notesSlide+xml"/>
  <Override PartName="/ppt/media/image16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6"/>
    <p:sldId id="261" r:id="rId7"/>
    <p:sldId id="263" r:id="rId8"/>
    <p:sldId id="262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91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07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7141" y="411751"/>
            <a:ext cx="3264592" cy="874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ru-RU" sz="3200" b="1" i="0" dirty="0">
                <a:solidFill>
                  <a:srgbClr val="1D2125"/>
                </a:solidFill>
                <a:effectLst/>
                <a:latin typeface="InterVariable"/>
              </a:rPr>
              <a:t>Визуализация данных: </a:t>
            </a:r>
            <a:r>
              <a:rPr lang="en-US" sz="3200" b="1" i="0" dirty="0" err="1">
                <a:solidFill>
                  <a:srgbClr val="1D2125"/>
                </a:solidFill>
                <a:effectLst/>
                <a:latin typeface="InterVariable"/>
              </a:rPr>
              <a:t>BarPlot</a:t>
            </a:r>
            <a:r>
              <a:rPr lang="en-US" sz="3200" b="1" i="0" dirty="0">
                <a:solidFill>
                  <a:srgbClr val="1D2125"/>
                </a:solidFill>
                <a:effectLst/>
                <a:latin typeface="InterVariable"/>
              </a:rPr>
              <a:t>, </a:t>
            </a:r>
            <a:r>
              <a:rPr lang="en-US" sz="3200" b="1" i="0" dirty="0" err="1">
                <a:solidFill>
                  <a:srgbClr val="1D2125"/>
                </a:solidFill>
                <a:effectLst/>
                <a:latin typeface="InterVariable"/>
              </a:rPr>
              <a:t>BoxPlot</a:t>
            </a:r>
            <a:r>
              <a:rPr lang="en-US" sz="3200" b="1" i="0" dirty="0">
                <a:solidFill>
                  <a:srgbClr val="1D2125"/>
                </a:solidFill>
                <a:effectLst/>
                <a:latin typeface="InterVariable"/>
              </a:rPr>
              <a:t>, </a:t>
            </a:r>
            <a:r>
              <a:rPr lang="en-US" sz="3200" b="1" i="0" dirty="0" err="1">
                <a:solidFill>
                  <a:srgbClr val="1D2125"/>
                </a:solidFill>
                <a:effectLst/>
                <a:latin typeface="InterVariable"/>
              </a:rPr>
              <a:t>ViolinPlot</a:t>
            </a:r>
            <a:r>
              <a:rPr lang="en-US" sz="3200" b="1" i="0" dirty="0">
                <a:solidFill>
                  <a:srgbClr val="1D2125"/>
                </a:solidFill>
                <a:effectLst/>
                <a:latin typeface="InterVariable"/>
              </a:rPr>
              <a:t>, </a:t>
            </a:r>
            <a:r>
              <a:rPr lang="en-US" sz="3200" b="1" i="0" dirty="0" err="1">
                <a:solidFill>
                  <a:srgbClr val="1D2125"/>
                </a:solidFill>
                <a:effectLst/>
                <a:latin typeface="InterVariable"/>
              </a:rPr>
              <a:t>RidgelinePlot</a:t>
            </a:r>
            <a:r>
              <a:rPr lang="en-US" sz="3200" b="1" i="0" dirty="0">
                <a:solidFill>
                  <a:srgbClr val="1D2125"/>
                </a:solidFill>
                <a:effectLst/>
                <a:latin typeface="InterVariable"/>
              </a:rPr>
              <a:t>, </a:t>
            </a:r>
            <a:r>
              <a:rPr lang="en-US" sz="3200" b="1" i="0" dirty="0" err="1">
                <a:solidFill>
                  <a:srgbClr val="1D2125"/>
                </a:solidFill>
                <a:effectLst/>
                <a:latin typeface="InterVariable"/>
              </a:rPr>
              <a:t>ScatterPlot</a:t>
            </a:r>
            <a:endParaRPr lang="en-US" sz="3000" dirty="0"/>
          </a:p>
        </p:txBody>
      </p:sp>
      <p:pic>
        <p:nvPicPr>
          <p:cNvPr id="8" name="Рисунок 7" descr="Изображение выглядит как текст, снимок экрана, красный, Карминный цвет&#10;&#10;AI-generated content may be incorrect.">
            <a:extLst>
              <a:ext uri="{FF2B5EF4-FFF2-40B4-BE49-F238E27FC236}">
                <a16:creationId xmlns:a16="http://schemas.microsoft.com/office/drawing/2014/main" id="{32589B6A-DD61-601C-AA90-4ACD25BE0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1" y="443719"/>
            <a:ext cx="5150902" cy="41148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47C315-43B8-0060-0AEC-E9BCA9E18725}"/>
              </a:ext>
            </a:extLst>
          </p:cNvPr>
          <p:cNvSpPr txBox="1"/>
          <p:nvPr/>
        </p:nvSpPr>
        <p:spPr>
          <a:xfrm>
            <a:off x="557141" y="3358191"/>
            <a:ext cx="31004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Выполнил студент группы ИНБО-20-23</a:t>
            </a:r>
          </a:p>
          <a:p>
            <a:r>
              <a:rPr lang="ru-RU" dirty="0"/>
              <a:t>Боргачев Тимофей Максимович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06040" y="277582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BarPlot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072742" y="1333957"/>
            <a:ext cx="3796937" cy="23091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Определение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д</a:t>
            </a:r>
            <a:r>
              <a:rPr lang="en-US" sz="1500" dirty="0">
                <a:solidFill>
                  <a:srgbClr val="000000"/>
                </a:solidFill>
              </a:rPr>
              <a:t>иаграмма столбцов, отображающая категориальные данные с длинами пропорциональными значениям.</a:t>
            </a:r>
            <a:endParaRPr lang="en-US" sz="15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Применение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и</a:t>
            </a:r>
            <a:r>
              <a:rPr lang="en-US" sz="1500" dirty="0">
                <a:solidFill>
                  <a:srgbClr val="000000"/>
                </a:solidFill>
              </a:rPr>
              <a:t>спользуется для сравнения величин разных категорий.</a:t>
            </a:r>
            <a:endParaRPr lang="en-US" sz="15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Пример использования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п</a:t>
            </a:r>
            <a:r>
              <a:rPr lang="en-US" sz="1500" dirty="0">
                <a:solidFill>
                  <a:srgbClr val="000000"/>
                </a:solidFill>
              </a:rPr>
              <a:t>оказывает объем продаж продуктов по регионам.</a:t>
            </a:r>
            <a:endParaRPr lang="en-US" sz="15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BB6A77-E795-0495-D5CE-C7C1F3AF2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3809"/>
            <a:ext cx="4870346" cy="34781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06040" y="355963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BoxPlot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1110343"/>
            <a:ext cx="3931920" cy="2592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Понятие квартилей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п</a:t>
            </a:r>
            <a:r>
              <a:rPr lang="en-US" sz="1500" dirty="0">
                <a:solidFill>
                  <a:srgbClr val="000000"/>
                </a:solidFill>
              </a:rPr>
              <a:t>оказывает разделение данных на четыре равные части.</a:t>
            </a:r>
            <a:endParaRPr lang="en-US" sz="15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Интерквартильный размах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р</a:t>
            </a:r>
            <a:r>
              <a:rPr lang="en-US" sz="1500" dirty="0">
                <a:solidFill>
                  <a:srgbClr val="000000"/>
                </a:solidFill>
              </a:rPr>
              <a:t>азница между третьим и первым квартилями, отражает разброс центральной половины данных.</a:t>
            </a:r>
            <a:endParaRPr lang="en-US" sz="15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Использование в анализе данных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п</a:t>
            </a:r>
            <a:r>
              <a:rPr lang="en-US" sz="1500" dirty="0">
                <a:solidFill>
                  <a:srgbClr val="000000"/>
                </a:solidFill>
              </a:rPr>
              <a:t>омогает выявлять выбросы и асимметрию распределений.</a:t>
            </a:r>
            <a:endParaRPr lang="en-US" sz="15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F3482F-079F-6EEA-004C-63D671D76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120" y="870857"/>
            <a:ext cx="4523747" cy="34017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06040" y="334191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ViolinPlot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017589" y="1397272"/>
            <a:ext cx="3931920" cy="2652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Показывает распределение данных</a:t>
            </a:r>
            <a:r>
              <a:rPr lang="en-US" sz="1500" dirty="0">
                <a:solidFill>
                  <a:srgbClr val="000000"/>
                </a:solidFill>
              </a:rPr>
              <a:t>: отображает как среднее значение, так и форму распределения.</a:t>
            </a:r>
            <a:endParaRPr lang="en-US" sz="15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Как читать плотность распределения</a:t>
            </a:r>
            <a:r>
              <a:rPr lang="en-US" sz="1500" dirty="0">
                <a:solidFill>
                  <a:srgbClr val="000000"/>
                </a:solidFill>
              </a:rPr>
              <a:t>: ширина каждой части графика отражает частоту значений в данном диапазоне.</a:t>
            </a:r>
            <a:endParaRPr lang="en-US" sz="15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Отличия от boxplot</a:t>
            </a:r>
            <a:r>
              <a:rPr lang="en-US" sz="1500" dirty="0">
                <a:solidFill>
                  <a:srgbClr val="000000"/>
                </a:solidFill>
              </a:rPr>
              <a:t>: предоставляет больше деталей о распределении благодаря сглаженной форме кривых.</a:t>
            </a:r>
            <a:endParaRPr lang="en-US" sz="1500" dirty="0"/>
          </a:p>
        </p:txBody>
      </p:sp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1293DB61-19E6-5AF6-DC12-D86B05C80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96" y="700314"/>
            <a:ext cx="4340904" cy="362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06040" y="334191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i="0" kern="1200" dirty="0" err="1">
                <a:solidFill>
                  <a:srgbClr val="1D2125"/>
                </a:solidFill>
                <a:effectLst/>
                <a:latin typeface="InterVariable"/>
                <a:ea typeface="+mn-ea"/>
                <a:cs typeface="+mn-cs"/>
              </a:rPr>
              <a:t>RidgelinePlot</a:t>
            </a:r>
            <a:r>
              <a:rPr lang="ru-RU" sz="2400" b="1" i="0" kern="1200" dirty="0">
                <a:solidFill>
                  <a:srgbClr val="1D2125"/>
                </a:solidFill>
                <a:effectLst/>
                <a:latin typeface="InterVariable"/>
                <a:ea typeface="+mn-ea"/>
                <a:cs typeface="+mn-cs"/>
              </a:rPr>
              <a:t> (</a:t>
            </a:r>
            <a:r>
              <a:rPr lang="en-US" sz="2400" b="1" dirty="0" err="1">
                <a:solidFill>
                  <a:srgbClr val="1D2125"/>
                </a:solidFill>
                <a:latin typeface="InterVariable"/>
              </a:rPr>
              <a:t>JoyPlot</a:t>
            </a:r>
            <a:r>
              <a:rPr lang="en-US" sz="2400" b="1" dirty="0">
                <a:solidFill>
                  <a:srgbClr val="1D2125"/>
                </a:solidFill>
                <a:latin typeface="InterVariable"/>
              </a:rPr>
              <a:t>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908621" y="1225612"/>
            <a:ext cx="3040888" cy="28238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ru-RU" sz="1500" b="1" dirty="0">
                <a:solidFill>
                  <a:srgbClr val="000000"/>
                </a:solidFill>
              </a:rPr>
              <a:t>Использование для групп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показывает распределение данных для нескольких групп одновременно</a:t>
            </a:r>
            <a:r>
              <a:rPr lang="en-US" sz="1500" dirty="0">
                <a:solidFill>
                  <a:srgbClr val="000000"/>
                </a:solidFill>
              </a:rPr>
              <a:t>.</a:t>
            </a:r>
            <a:endParaRPr lang="en-US" sz="15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Как </a:t>
            </a:r>
            <a:r>
              <a:rPr lang="en-US" sz="1500" b="1" dirty="0" err="1">
                <a:solidFill>
                  <a:srgbClr val="000000"/>
                </a:solidFill>
              </a:rPr>
              <a:t>читать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ширина – разброс значений, высота – частота встречи значения</a:t>
            </a:r>
            <a:r>
              <a:rPr lang="en-US" sz="1500" dirty="0">
                <a:solidFill>
                  <a:srgbClr val="000000"/>
                </a:solidFill>
              </a:rPr>
              <a:t>.</a:t>
            </a:r>
            <a:endParaRPr lang="en-US" sz="15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500" b="1" dirty="0" err="1">
                <a:solidFill>
                  <a:srgbClr val="000000"/>
                </a:solidFill>
              </a:rPr>
              <a:t>Отличия</a:t>
            </a:r>
            <a:r>
              <a:rPr lang="en-US" sz="1500" b="1" dirty="0">
                <a:solidFill>
                  <a:srgbClr val="000000"/>
                </a:solidFill>
              </a:rPr>
              <a:t> </a:t>
            </a:r>
            <a:r>
              <a:rPr lang="en-US" sz="1500" b="1" dirty="0" err="1">
                <a:solidFill>
                  <a:srgbClr val="000000"/>
                </a:solidFill>
              </a:rPr>
              <a:t>от</a:t>
            </a:r>
            <a:r>
              <a:rPr lang="en-US" sz="1500" b="1" dirty="0">
                <a:solidFill>
                  <a:srgbClr val="000000"/>
                </a:solidFill>
              </a:rPr>
              <a:t> boxplot</a:t>
            </a:r>
            <a:r>
              <a:rPr lang="ru-RU" sz="1500" b="1" dirty="0">
                <a:solidFill>
                  <a:srgbClr val="000000"/>
                </a:solidFill>
              </a:rPr>
              <a:t> и гистограмм</a:t>
            </a:r>
            <a:r>
              <a:rPr lang="en-US" sz="1500" dirty="0">
                <a:solidFill>
                  <a:srgbClr val="000000"/>
                </a:solidFill>
              </a:rPr>
              <a:t>: </a:t>
            </a:r>
            <a:r>
              <a:rPr lang="ru-RU" sz="1500" dirty="0">
                <a:solidFill>
                  <a:srgbClr val="000000"/>
                </a:solidFill>
              </a:rPr>
              <a:t>сохраняет форму всего распределения — включая </a:t>
            </a:r>
            <a:r>
              <a:rPr lang="ru-RU" sz="1500" dirty="0" err="1">
                <a:solidFill>
                  <a:srgbClr val="000000"/>
                </a:solidFill>
              </a:rPr>
              <a:t>мультимодальность</a:t>
            </a:r>
            <a:r>
              <a:rPr lang="ru-RU" sz="1500" dirty="0">
                <a:solidFill>
                  <a:srgbClr val="000000"/>
                </a:solidFill>
              </a:rPr>
              <a:t>, асимметрию и хвосты.</a:t>
            </a:r>
            <a:endParaRPr lang="en-US" sz="15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BDE5A2-7837-3443-D9CC-638DCA384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5612"/>
            <a:ext cx="5908621" cy="299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1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2269" y="71882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ScatterPlot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1444171"/>
            <a:ext cx="3931920" cy="34979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Отображение корреляции</a:t>
            </a:r>
            <a:r>
              <a:rPr lang="en-US" sz="1600" dirty="0">
                <a:solidFill>
                  <a:srgbClr val="000000"/>
                </a:solidFill>
              </a:rPr>
              <a:t>: позволяет увидеть </a:t>
            </a:r>
            <a:r>
              <a:rPr lang="en-US" sz="1600" dirty="0" err="1">
                <a:solidFill>
                  <a:srgbClr val="000000"/>
                </a:solidFill>
              </a:rPr>
              <a:t>взаимосвязь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двух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ru-RU" sz="1600" dirty="0">
                <a:solidFill>
                  <a:srgbClr val="000000"/>
                </a:solidFill>
              </a:rPr>
              <a:t>или трёх</a:t>
            </a:r>
            <a:r>
              <a:rPr lang="en-US" sz="1600" dirty="0">
                <a:solidFill>
                  <a:srgbClr val="000000"/>
                </a:solidFill>
              </a:rPr>
              <a:t> непрерывных переменных.</a:t>
            </a:r>
            <a:endParaRPr lang="en-US" sz="16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Регрессионная линия</a:t>
            </a:r>
            <a:r>
              <a:rPr lang="en-US" sz="1600" dirty="0">
                <a:solidFill>
                  <a:srgbClr val="000000"/>
                </a:solidFill>
              </a:rPr>
              <a:t>: помогает оценить направление и силу связи между переменными.</a:t>
            </a:r>
            <a:endParaRPr lang="en-US" sz="1600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Цветовая кодировка</a:t>
            </a:r>
            <a:r>
              <a:rPr lang="en-US" sz="1600" dirty="0">
                <a:solidFill>
                  <a:srgbClr val="000000"/>
                </a:solidFill>
              </a:rPr>
              <a:t>: используется для разделения данных по категориям или уровням.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B6BDD7-0185-E256-B929-0C5F3FE9E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894" y="181792"/>
            <a:ext cx="3166837" cy="22372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C1F84B-93B2-5EDD-98DD-1E922617C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842" y="2353742"/>
            <a:ext cx="2566157" cy="25329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308610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Matplotlib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en-US" sz="2400" b="1" dirty="0">
                <a:solidFill>
                  <a:srgbClr val="000000"/>
                </a:solidFill>
              </a:rPr>
              <a:t>библиотека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771525"/>
            <a:ext cx="3596640" cy="2508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Matplotlib — базовая библиотека Python для создания статических, анимированных и интерактивных визуализаций.</a:t>
            </a:r>
            <a:endParaRPr lang="en-US" sz="1500" dirty="0"/>
          </a:p>
          <a:p>
            <a:pPr marL="0" indent="0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Поддерживает различные типы графиков, включая линии, столбцы, гистограммы и круговые диаграммы.</a:t>
            </a:r>
            <a:endParaRPr lang="en-US" sz="15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9ACA94-7A12-2B2E-E363-3CE7DB2D9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987969"/>
            <a:ext cx="4298491" cy="31675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1C31B0-DD8C-1D99-FDBA-6BCE5B09D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17" y="3099835"/>
            <a:ext cx="3127829" cy="559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7531" y="261257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Seaborn библиотека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167086" y="782067"/>
            <a:ext cx="3860800" cy="38645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Библиотека Seaborn предоставляет широкий спектр инструментов для создания высокоуровневых визуализаций данных. Она интегрируется с pandas и matplotlib, обеспечивая возможность быстро создавать графики различных типов. Основные функции включают построение гистограмм, диаграмм рассеяния, violin plots, heatmaps и др.</a:t>
            </a:r>
            <a:endParaRPr lang="en-US" sz="15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95A5970-597D-4C44-E521-6CEE89AA5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793228"/>
            <a:ext cx="4705380" cy="3557043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логотип, Графика, Шрифт, круг&#10;&#10;AI-generated content may be incorrect.">
            <a:extLst>
              <a:ext uri="{FF2B5EF4-FFF2-40B4-BE49-F238E27FC236}">
                <a16:creationId xmlns:a16="http://schemas.microsoft.com/office/drawing/2014/main" id="{26D29270-065B-6FB3-FF3F-32CE990814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563" y="3004457"/>
            <a:ext cx="1649866" cy="1649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37908" y="308610"/>
            <a:ext cx="3931920" cy="565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 err="1">
                <a:solidFill>
                  <a:srgbClr val="000000"/>
                </a:solidFill>
              </a:rPr>
              <a:t>Plotly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b="1" dirty="0" err="1">
                <a:solidFill>
                  <a:srgbClr val="000000"/>
                </a:solidFill>
              </a:rPr>
              <a:t>библиотека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878286" y="954311"/>
            <a:ext cx="3178627" cy="25218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dirty="0" err="1"/>
              <a:t>Plotly</a:t>
            </a:r>
            <a:r>
              <a:rPr lang="en-US" dirty="0"/>
              <a:t> – </a:t>
            </a:r>
            <a:r>
              <a:rPr lang="ru-RU" dirty="0"/>
              <a:t>библиотека для создания интерактивных, анимированных графиков. </a:t>
            </a:r>
          </a:p>
          <a:p>
            <a:pPr algn="r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ru-RU" dirty="0"/>
              <a:t>Высокая гибкость, но также и высокое потребление ресурсов.</a:t>
            </a:r>
            <a:endParaRPr lang="en-US" dirty="0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5C7B974C-B3E6-1A35-7CEF-0A82B881E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371" y="2628280"/>
            <a:ext cx="3904174" cy="219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857547-23CE-0F27-325E-36FE9F657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72" y="257537"/>
            <a:ext cx="3730548" cy="2808469"/>
          </a:xfrm>
          <a:prstGeom prst="rect">
            <a:avLst/>
          </a:prstGeom>
        </p:spPr>
      </p:pic>
      <p:pic>
        <p:nvPicPr>
          <p:cNvPr id="8" name="Рисунок 7" descr="Изображение выглядит как Графика, Шрифт, снимок экрана, графический дизайн">
            <a:extLst>
              <a:ext uri="{FF2B5EF4-FFF2-40B4-BE49-F238E27FC236}">
                <a16:creationId xmlns:a16="http://schemas.microsoft.com/office/drawing/2014/main" id="{AF8F1AFF-5D4C-6644-3AC8-D93FDB79D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0" y="3066006"/>
            <a:ext cx="4260913" cy="14189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db5e15ca-36ad-4639-8893-57c2079bd6de/0199c4ed-ca00-76e3-ac92-877950089a90.jpg"/>
          <p:cNvPicPr>
            <a:picLocks noChangeAspect="1"/>
          </p:cNvPicPr>
          <p:nvPr/>
        </p:nvPicPr>
        <p:blipFill>
          <a:blip r:embed="rId3"/>
          <a:srcRect t="19079" b="19079"/>
          <a:stretch/>
        </p:blipFill>
        <p:spPr>
          <a:xfrm>
            <a:off x="4572000" y="257175"/>
            <a:ext cx="4269921" cy="46209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835" y="601799"/>
            <a:ext cx="3931920" cy="3086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2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00000"/>
                </a:solidFill>
              </a:rPr>
              <a:t>Итоги и рекомендации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45589" y="1743982"/>
            <a:ext cx="3931920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Правильный выбор графика критичен для эффективного анализа данных.</a:t>
            </a:r>
            <a:endParaRPr lang="en-US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Используйте цветовую палитру и легенду для повышения читаемости.</a:t>
            </a:r>
            <a:endParaRPr lang="en-US" dirty="0"/>
          </a:p>
          <a:p>
            <a:pPr marL="177800" indent="-177800">
              <a:lnSpc>
                <a:spcPts val="1770"/>
              </a:lnSpc>
              <a:spcBef>
                <a:spcPts val="100"/>
              </a:spcBef>
              <a:spcAft>
                <a:spcPts val="1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Тестируйте разные типы визуализаций, прежде чем остановиться на одном.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db5e15ca-36ad-4639-8893-57c2079bd6de/0199c4eb-1441-7b3e-a627-16449a0b91ba.jpg"/>
          <p:cNvPicPr>
            <a:picLocks noChangeAspect="1"/>
          </p:cNvPicPr>
          <p:nvPr/>
        </p:nvPicPr>
        <p:blipFill>
          <a:blip r:embed="rId3"/>
          <a:srcRect t="19029" b="19029"/>
          <a:stretch/>
        </p:blipFill>
        <p:spPr>
          <a:xfrm>
            <a:off x="5319624" y="909864"/>
            <a:ext cx="3184296" cy="34516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5874" y="2297067"/>
            <a:ext cx="3931920" cy="874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 b="1" dirty="0">
                <a:solidFill>
                  <a:srgbClr val="000000"/>
                </a:solidFill>
              </a:rPr>
              <a:t>Спасибо за внимание!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373</Words>
  <Application>Microsoft Office PowerPoint</Application>
  <PresentationFormat>Экран (16:9)</PresentationFormat>
  <Paragraphs>47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InterVariable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Тимофей Боргачев</cp:lastModifiedBy>
  <cp:revision>29</cp:revision>
  <dcterms:created xsi:type="dcterms:W3CDTF">2025-10-08T17:53:03Z</dcterms:created>
  <dcterms:modified xsi:type="dcterms:W3CDTF">2025-10-08T18:32:37Z</dcterms:modified>
</cp:coreProperties>
</file>