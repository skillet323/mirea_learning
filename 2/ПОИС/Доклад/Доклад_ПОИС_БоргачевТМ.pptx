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1" r:id="rId1"/>
    <p:sldMasterId id="2147483674" r:id="rId2"/>
  </p:sldMasterIdLst>
  <p:notesMasterIdLst>
    <p:notesMasterId r:id="rId14"/>
  </p:notesMasterIdLst>
  <p:sldIdLst>
    <p:sldId id="256" r:id="rId3"/>
    <p:sldId id="257" r:id="rId4"/>
    <p:sldId id="258" r:id="rId5"/>
    <p:sldId id="259" r:id="rId6"/>
    <p:sldId id="266" r:id="rId7"/>
    <p:sldId id="263" r:id="rId8"/>
    <p:sldId id="264" r:id="rId9"/>
    <p:sldId id="265" r:id="rId10"/>
    <p:sldId id="260" r:id="rId11"/>
    <p:sldId id="261" r:id="rId12"/>
    <p:sldId id="262" r:id="rId13"/>
  </p:sldIdLst>
  <p:sldSz cx="12192000" cy="6858000"/>
  <p:notesSz cx="6858000" cy="9144000"/>
  <p:defaultTextStyle>
    <a:defPPr>
      <a:defRPr lang="ru-RU"/>
    </a:defPPr>
    <a:lvl1pPr algn="l" rtl="0" fontAlgn="base">
      <a:spcBef>
        <a:spcPct val="0"/>
      </a:spcBef>
      <a:spcAft>
        <a:spcPct val="0"/>
      </a:spcAft>
      <a:defRPr sz="2000" b="1" kern="1200">
        <a:solidFill>
          <a:schemeClr val="tx1"/>
        </a:solidFill>
        <a:latin typeface="Impact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000" b="1" kern="1200">
        <a:solidFill>
          <a:schemeClr val="tx1"/>
        </a:solidFill>
        <a:latin typeface="Impact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000" b="1" kern="1200">
        <a:solidFill>
          <a:schemeClr val="tx1"/>
        </a:solidFill>
        <a:latin typeface="Impact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000" b="1" kern="1200">
        <a:solidFill>
          <a:schemeClr val="tx1"/>
        </a:solidFill>
        <a:latin typeface="Impact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000" b="1" kern="1200">
        <a:solidFill>
          <a:schemeClr val="tx1"/>
        </a:solidFill>
        <a:latin typeface="Impact" pitchFamily="34" charset="0"/>
        <a:ea typeface="+mn-ea"/>
        <a:cs typeface="+mn-cs"/>
      </a:defRPr>
    </a:lvl5pPr>
    <a:lvl6pPr marL="2286000" algn="l" defTabSz="914400" rtl="0" eaLnBrk="1" latinLnBrk="0" hangingPunct="1">
      <a:defRPr sz="2000" b="1" kern="1200">
        <a:solidFill>
          <a:schemeClr val="tx1"/>
        </a:solidFill>
        <a:latin typeface="Impact" pitchFamily="34" charset="0"/>
        <a:ea typeface="+mn-ea"/>
        <a:cs typeface="+mn-cs"/>
      </a:defRPr>
    </a:lvl6pPr>
    <a:lvl7pPr marL="2743200" algn="l" defTabSz="914400" rtl="0" eaLnBrk="1" latinLnBrk="0" hangingPunct="1">
      <a:defRPr sz="2000" b="1" kern="1200">
        <a:solidFill>
          <a:schemeClr val="tx1"/>
        </a:solidFill>
        <a:latin typeface="Impact" pitchFamily="34" charset="0"/>
        <a:ea typeface="+mn-ea"/>
        <a:cs typeface="+mn-cs"/>
      </a:defRPr>
    </a:lvl7pPr>
    <a:lvl8pPr marL="3200400" algn="l" defTabSz="914400" rtl="0" eaLnBrk="1" latinLnBrk="0" hangingPunct="1">
      <a:defRPr sz="2000" b="1" kern="1200">
        <a:solidFill>
          <a:schemeClr val="tx1"/>
        </a:solidFill>
        <a:latin typeface="Impact" pitchFamily="34" charset="0"/>
        <a:ea typeface="+mn-ea"/>
        <a:cs typeface="+mn-cs"/>
      </a:defRPr>
    </a:lvl8pPr>
    <a:lvl9pPr marL="3657600" algn="l" defTabSz="914400" rtl="0" eaLnBrk="1" latinLnBrk="0" hangingPunct="1">
      <a:defRPr sz="2000" b="1" kern="1200">
        <a:solidFill>
          <a:schemeClr val="tx1"/>
        </a:solidFill>
        <a:latin typeface="Impact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CC29"/>
    <a:srgbClr val="FAED6B"/>
    <a:srgbClr val="FF3300"/>
    <a:srgbClr val="F08A5C"/>
    <a:srgbClr val="FEDC90"/>
    <a:srgbClr val="CC00CC"/>
    <a:srgbClr val="B254BC"/>
    <a:srgbClr val="692C70"/>
    <a:srgbClr val="B73B5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Средний стиль 2 — акцент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125E5076-3810-47DD-B79F-674D7AD40C01}" styleName="Темный стиль 1 — акцент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2" d="100"/>
          <a:sy n="92" d="100"/>
        </p:scale>
        <p:origin x="307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tableStyles" Target="tableStyle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presProps" Target="presProp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view3D>
      <c:rotX val="30"/>
      <c:rotY val="0"/>
      <c:depthPercent val="100"/>
      <c:rAngAx val="0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>
        <c:manualLayout>
          <c:layoutTarget val="inner"/>
          <c:xMode val="edge"/>
          <c:yMode val="edge"/>
          <c:x val="7.5231481481481483E-2"/>
          <c:y val="9.3366207368465015E-2"/>
          <c:w val="0.84953703703703709"/>
          <c:h val="0.81326758526306997"/>
        </c:manualLayout>
      </c:layout>
      <c:pie3DChart>
        <c:varyColors val="1"/>
        <c:ser>
          <c:idx val="0"/>
          <c:order val="0"/>
          <c:tx>
            <c:strRef>
              <c:f>Лист1!$B$1</c:f>
              <c:strCache>
                <c:ptCount val="1"/>
                <c:pt idx="0">
                  <c:v>Столбец1</c:v>
                </c:pt>
              </c:strCache>
            </c:strRef>
          </c:tx>
          <c:dPt>
            <c:idx val="0"/>
            <c:bubble3D val="0"/>
            <c:spPr>
              <a:solidFill>
                <a:srgbClr val="FFCC29"/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3-66C0-4C4F-9536-D1C85DB1F498}"/>
              </c:ext>
            </c:extLst>
          </c:dPt>
          <c:dPt>
            <c:idx val="1"/>
            <c:bubble3D val="0"/>
            <c:spPr>
              <a:solidFill>
                <a:srgbClr val="FAED6B"/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2-66C0-4C4F-9536-D1C85DB1F498}"/>
              </c:ext>
            </c:extLst>
          </c:dPt>
          <c:dPt>
            <c:idx val="2"/>
            <c:bubble3D val="0"/>
            <c:spPr>
              <a:solidFill>
                <a:srgbClr val="92D050"/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8-66C0-4C4F-9536-D1C85DB1F498}"/>
              </c:ext>
            </c:extLst>
          </c:dPt>
          <c:dPt>
            <c:idx val="3"/>
            <c:bubble3D val="0"/>
            <c:spPr>
              <a:solidFill>
                <a:schemeClr val="accent1">
                  <a:lumMod val="75000"/>
                </a:schemeClr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7-66C0-4C4F-9536-D1C85DB1F498}"/>
              </c:ext>
            </c:extLst>
          </c:dPt>
          <c:dPt>
            <c:idx val="4"/>
            <c:bubble3D val="0"/>
            <c:spPr>
              <a:solidFill>
                <a:srgbClr val="0070C0"/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6-66C0-4C4F-9536-D1C85DB1F498}"/>
              </c:ext>
            </c:extLst>
          </c:dPt>
          <c:dPt>
            <c:idx val="5"/>
            <c:bubble3D val="0"/>
            <c:spPr>
              <a:solidFill>
                <a:srgbClr val="7030A0"/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5-66C0-4C4F-9536-D1C85DB1F498}"/>
              </c:ext>
            </c:extLst>
          </c:dPt>
          <c:dPt>
            <c:idx val="6"/>
            <c:bubble3D val="0"/>
            <c:spPr>
              <a:solidFill>
                <a:srgbClr val="FF3300"/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4-66C0-4C4F-9536-D1C85DB1F498}"/>
              </c:ext>
            </c:extLst>
          </c:dPt>
          <c:dLbls>
            <c:dLbl>
              <c:idx val="0"/>
              <c:tx>
                <c:rich>
                  <a:bodyPr/>
                  <a:lstStyle/>
                  <a:p>
                    <a:fld id="{97BAF26A-E283-4CB3-A62E-149BAAD10EDF}" type="CATEGORYNAME">
                      <a:rPr lang="ru-RU" sz="1200" baseline="0">
                        <a:solidFill>
                          <a:schemeClr val="bg1"/>
                        </a:solidFill>
                      </a:rPr>
                      <a:pPr/>
                      <a:t>[ИМЯ КАТЕГОРИИ]</a:t>
                    </a:fld>
                    <a:endParaRPr lang="ru-RU"/>
                  </a:p>
                </c:rich>
              </c:tx>
              <c:dLblPos val="bestFit"/>
              <c:showLegendKey val="0"/>
              <c:showVal val="0"/>
              <c:showCatName val="1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3-66C0-4C4F-9536-D1C85DB1F498}"/>
                </c:ext>
              </c:extLst>
            </c:dLbl>
            <c:dLbl>
              <c:idx val="1"/>
              <c:layout>
                <c:manualLayout>
                  <c:x val="-0.17287637329145333"/>
                  <c:y val="-0.30285527167612653"/>
                </c:manualLayout>
              </c:layout>
              <c:tx>
                <c:rich>
                  <a:bodyPr rot="0" spcFirstLastPara="1" vertOverflow="ellipsis" vert="horz" wrap="square" lIns="38100" tIns="19050" rIns="38100" bIns="19050" anchor="ctr" anchorCtr="1">
                    <a:spAutoFit/>
                  </a:bodyPr>
                  <a:lstStyle/>
                  <a:p>
                    <a:pPr>
                      <a:defRPr sz="1197" b="0" i="0" u="none" strike="noStrike" kern="1200" baseline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defRPr>
                    </a:pPr>
                    <a:fld id="{D6E12B7B-084F-441A-89C8-D5EC029A4D8C}" type="CATEGORYNAME">
                      <a:rPr lang="ru-RU" sz="1400" baseline="0" dirty="0"/>
                      <a:pPr>
                        <a:defRPr baseline="0">
                          <a:solidFill>
                            <a:schemeClr val="bg1"/>
                          </a:solidFill>
                        </a:defRPr>
                      </a:pPr>
                      <a:t>[ИМЯ КАТЕГОРИИ]</a:t>
                    </a:fld>
                    <a:endParaRPr lang="ru-RU"/>
                  </a:p>
                </c:rich>
              </c:tx>
              <c:spPr>
                <a:solidFill>
                  <a:srgbClr val="FFCC29"/>
                </a:solidFill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197" b="0" i="0" u="none" strike="noStrike" kern="1200" baseline="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ru-RU"/>
                </a:p>
              </c:txPr>
              <c:dLblPos val="bestFit"/>
              <c:showLegendKey val="0"/>
              <c:showVal val="0"/>
              <c:showCatName val="1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2-66C0-4C4F-9536-D1C85DB1F498}"/>
                </c:ext>
              </c:extLst>
            </c:dLbl>
            <c:dLbl>
              <c:idx val="2"/>
              <c:layout>
                <c:manualLayout>
                  <c:x val="0.14710873743241112"/>
                  <c:y val="-0.26786727842098129"/>
                </c:manualLayout>
              </c:layout>
              <c:dLblPos val="bestFit"/>
              <c:showLegendKey val="0"/>
              <c:showVal val="0"/>
              <c:showCatName val="1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66C0-4C4F-9536-D1C85DB1F498}"/>
                </c:ext>
              </c:extLst>
            </c:dLbl>
            <c:dLbl>
              <c:idx val="6"/>
              <c:layout>
                <c:manualLayout>
                  <c:x val="7.5136612021857924E-2"/>
                  <c:y val="5.4971319311663477E-2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noAutofit/>
                </a:bodyPr>
                <a:lstStyle/>
                <a:p>
                  <a:pPr>
                    <a:defRPr sz="1197" b="0" i="0" u="none" strike="noStrike" kern="1200" baseline="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ru-RU"/>
                </a:p>
              </c:txPr>
              <c:dLblPos val="bestFit"/>
              <c:showLegendKey val="0"/>
              <c:showVal val="0"/>
              <c:showCatName val="1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11327413479052824"/>
                      <c:h val="0.22645793499043976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4-66C0-4C4F-9536-D1C85DB1F498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ru-RU"/>
              </a:p>
            </c:txPr>
            <c:dLblPos val="bestFit"/>
            <c:showLegendKey val="0"/>
            <c:showVal val="0"/>
            <c:showCatName val="1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Лист1!$A$2:$A$8</c:f>
              <c:strCache>
                <c:ptCount val="7"/>
                <c:pt idx="0">
                  <c:v>Лицензии Citrix </c:v>
                </c:pt>
                <c:pt idx="1">
                  <c:v>Серверное оборудование </c:v>
                </c:pt>
                <c:pt idx="2">
                  <c:v>Программное обеспечение для виртуализации </c:v>
                </c:pt>
                <c:pt idx="3">
                  <c:v>Сетевое оборудование и доступ</c:v>
                </c:pt>
                <c:pt idx="4">
                  <c:v>Хранилище данных </c:v>
                </c:pt>
                <c:pt idx="5">
                  <c:v>Услуги внедрения </c:v>
                </c:pt>
                <c:pt idx="6">
                  <c:v>Поддержка и сопровождение </c:v>
                </c:pt>
              </c:strCache>
            </c:strRef>
          </c:cat>
          <c:val>
            <c:numRef>
              <c:f>Лист1!$B$2:$B$8</c:f>
              <c:numCache>
                <c:formatCode>0%</c:formatCode>
                <c:ptCount val="7"/>
                <c:pt idx="0">
                  <c:v>0.25</c:v>
                </c:pt>
                <c:pt idx="1">
                  <c:v>0.3</c:v>
                </c:pt>
                <c:pt idx="2">
                  <c:v>0.1</c:v>
                </c:pt>
                <c:pt idx="3">
                  <c:v>0.1</c:v>
                </c:pt>
                <c:pt idx="4">
                  <c:v>0.1</c:v>
                </c:pt>
                <c:pt idx="5">
                  <c:v>0.1</c:v>
                </c:pt>
                <c:pt idx="6">
                  <c:v>0.05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6C0-4C4F-9536-D1C85DB1F498}"/>
            </c:ext>
          </c:extLst>
        </c:ser>
        <c:dLbls>
          <c:dLblPos val="bestFit"/>
          <c:showLegendKey val="0"/>
          <c:showVal val="1"/>
          <c:showCatName val="0"/>
          <c:showSerName val="0"/>
          <c:showPercent val="0"/>
          <c:showBubbleSize val="0"/>
          <c:showLeaderLines val="1"/>
        </c:dLbls>
      </c:pie3DChart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Лист1!$B$1</c:f>
              <c:strCache>
                <c:ptCount val="1"/>
                <c:pt idx="0">
                  <c:v>Преимущества</c:v>
                </c:pt>
              </c:strCache>
            </c:strRef>
          </c:tx>
          <c:spPr>
            <a:ln>
              <a:solidFill>
                <a:srgbClr val="FEDC90"/>
              </a:solidFill>
            </a:ln>
          </c:spPr>
          <c:dPt>
            <c:idx val="0"/>
            <c:bubble3D val="0"/>
            <c:spPr>
              <a:solidFill>
                <a:srgbClr val="F08A5C"/>
              </a:solidFill>
              <a:ln w="19050">
                <a:solidFill>
                  <a:srgbClr val="FEDC90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4-0187-4AE4-896A-5E3B71D01AA6}"/>
              </c:ext>
            </c:extLst>
          </c:dPt>
          <c:dPt>
            <c:idx val="1"/>
            <c:bubble3D val="0"/>
            <c:spPr>
              <a:solidFill>
                <a:srgbClr val="FFCC29"/>
              </a:solidFill>
              <a:ln w="19050">
                <a:solidFill>
                  <a:srgbClr val="FEDC90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0187-4AE4-896A-5E3B71D01AA6}"/>
              </c:ext>
            </c:extLst>
          </c:dPt>
          <c:dPt>
            <c:idx val="2"/>
            <c:bubble3D val="0"/>
            <c:spPr>
              <a:solidFill>
                <a:schemeClr val="accent1">
                  <a:lumMod val="90000"/>
                </a:schemeClr>
              </a:solidFill>
              <a:ln w="19050">
                <a:solidFill>
                  <a:srgbClr val="FEDC90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2-0187-4AE4-896A-5E3B71D01AA6}"/>
              </c:ext>
            </c:extLst>
          </c:dPt>
          <c:dPt>
            <c:idx val="3"/>
            <c:bubble3D val="0"/>
            <c:spPr>
              <a:solidFill>
                <a:schemeClr val="accent1">
                  <a:lumMod val="50000"/>
                </a:schemeClr>
              </a:solidFill>
              <a:ln w="19050">
                <a:solidFill>
                  <a:srgbClr val="FEDC90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0187-4AE4-896A-5E3B71D01AA6}"/>
              </c:ext>
            </c:extLst>
          </c:dPt>
          <c:cat>
            <c:strRef>
              <c:f>Лист1!$A$2:$A$5</c:f>
              <c:strCache>
                <c:ptCount val="4"/>
                <c:pt idx="0">
                  <c:v>Производительность</c:v>
                </c:pt>
                <c:pt idx="1">
                  <c:v>Гибкость</c:v>
                </c:pt>
                <c:pt idx="2">
                  <c:v>Безопасность</c:v>
                </c:pt>
                <c:pt idx="3">
                  <c:v>Экономия</c:v>
                </c:pt>
              </c:strCache>
            </c:strRef>
          </c:cat>
          <c:val>
            <c:numRef>
              <c:f>Лист1!$B$2:$B$5</c:f>
              <c:numCache>
                <c:formatCode>General</c:formatCode>
                <c:ptCount val="4"/>
                <c:pt idx="0">
                  <c:v>30</c:v>
                </c:pt>
                <c:pt idx="1">
                  <c:v>25</c:v>
                </c:pt>
                <c:pt idx="2">
                  <c:v>25</c:v>
                </c:pt>
                <c:pt idx="3">
                  <c:v>20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187-4AE4-896A-5E3B71D01AA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6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253E3DF-3DB2-4882-B903-2CDBED476311}" type="datetimeFigureOut">
              <a:rPr lang="ru-RU" smtClean="0"/>
              <a:t>11.11.2024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7A5C137-49C0-4331-81BA-287462D4814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36779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A5C137-49C0-4331-81BA-287462D48142}" type="slidenum">
              <a:rPr lang="ru-RU" smtClean="0"/>
              <a:t>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8862353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ru-RU"/>
              <a:t>Образец подзаголовка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20078264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</p:spTree>
    <p:extLst>
      <p:ext uri="{BB962C8B-B14F-4D97-AF65-F5344CB8AC3E}">
        <p14:creationId xmlns:p14="http://schemas.microsoft.com/office/powerpoint/2010/main" val="13858963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31605649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</p:spTree>
    <p:extLst>
      <p:ext uri="{BB962C8B-B14F-4D97-AF65-F5344CB8AC3E}">
        <p14:creationId xmlns:p14="http://schemas.microsoft.com/office/powerpoint/2010/main" val="42179471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</p:spTree>
    <p:extLst>
      <p:ext uri="{BB962C8B-B14F-4D97-AF65-F5344CB8AC3E}">
        <p14:creationId xmlns:p14="http://schemas.microsoft.com/office/powerpoint/2010/main" val="25485503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8606108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314194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24493629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ru-RU" noProof="0"/>
              <a:t>Вставка рисунка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19720680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</p:spTree>
    <p:extLst>
      <p:ext uri="{BB962C8B-B14F-4D97-AF65-F5344CB8AC3E}">
        <p14:creationId xmlns:p14="http://schemas.microsoft.com/office/powerpoint/2010/main" val="9890631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  <a:prstGeom prst="rect">
            <a:avLst/>
          </a:prstGeo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</p:spTree>
    <p:extLst>
      <p:ext uri="{BB962C8B-B14F-4D97-AF65-F5344CB8AC3E}">
        <p14:creationId xmlns:p14="http://schemas.microsoft.com/office/powerpoint/2010/main" val="212417213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ru-RU"/>
              <a:t>Образец подзаголовка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32117445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</p:spTree>
    <p:extLst>
      <p:ext uri="{BB962C8B-B14F-4D97-AF65-F5344CB8AC3E}">
        <p14:creationId xmlns:p14="http://schemas.microsoft.com/office/powerpoint/2010/main" val="328616433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120510197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</p:spTree>
    <p:extLst>
      <p:ext uri="{BB962C8B-B14F-4D97-AF65-F5344CB8AC3E}">
        <p14:creationId xmlns:p14="http://schemas.microsoft.com/office/powerpoint/2010/main" val="371397951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</p:spTree>
    <p:extLst>
      <p:ext uri="{BB962C8B-B14F-4D97-AF65-F5344CB8AC3E}">
        <p14:creationId xmlns:p14="http://schemas.microsoft.com/office/powerpoint/2010/main" val="201328069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62518731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0752143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249565687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ru-RU" noProof="0"/>
              <a:t>Вставка рисунка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425485126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</p:spTree>
    <p:extLst>
      <p:ext uri="{BB962C8B-B14F-4D97-AF65-F5344CB8AC3E}">
        <p14:creationId xmlns:p14="http://schemas.microsoft.com/office/powerpoint/2010/main" val="2491232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  <a:prstGeom prst="rect">
            <a:avLst/>
          </a:prstGeo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</p:spTree>
    <p:extLst>
      <p:ext uri="{BB962C8B-B14F-4D97-AF65-F5344CB8AC3E}">
        <p14:creationId xmlns:p14="http://schemas.microsoft.com/office/powerpoint/2010/main" val="30052070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0">
          <a:blip r:embed="rId13" cstate="print">
            <a:lum/>
          </a:blip>
          <a:srcRect/>
          <a:stretch>
            <a:fillRect l="-2000" r="-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034" name="Picture 3" descr="flag2"/>
          <p:cNvPicPr>
            <a:picLocks noChangeAspect="1" noChangeArrowheads="1"/>
          </p:cNvPicPr>
          <p:nvPr/>
        </p:nvPicPr>
        <p:blipFill>
          <a:blip r:embed="rId14"/>
          <a:srcRect/>
          <a:stretch>
            <a:fillRect/>
          </a:stretch>
        </p:blipFill>
        <p:spPr bwMode="auto">
          <a:xfrm>
            <a:off x="-48683" y="0"/>
            <a:ext cx="12240684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27" name="Rectangle 1024"/>
          <p:cNvSpPr>
            <a:spLocks noChangeArrowheads="1"/>
          </p:cNvSpPr>
          <p:nvPr/>
        </p:nvSpPr>
        <p:spPr bwMode="auto">
          <a:xfrm>
            <a:off x="0" y="1011238"/>
            <a:ext cx="12192000" cy="114300"/>
          </a:xfrm>
          <a:prstGeom prst="rect">
            <a:avLst/>
          </a:prstGeom>
          <a:gradFill rotWithShape="1">
            <a:gsLst>
              <a:gs pos="0">
                <a:srgbClr val="475E76"/>
              </a:gs>
              <a:gs pos="50000">
                <a:srgbClr val="99CCFF"/>
              </a:gs>
              <a:gs pos="100000">
                <a:srgbClr val="475E76"/>
              </a:gs>
            </a:gsLst>
            <a:lin ang="0" scaled="1"/>
          </a:gradFill>
          <a:ln>
            <a:noFill/>
          </a:ln>
        </p:spPr>
        <p:txBody>
          <a:bodyPr/>
          <a:lstStyle>
            <a:lvl1pPr eaLnBrk="0" hangingPunct="0">
              <a:defRPr sz="2000" b="1">
                <a:solidFill>
                  <a:schemeClr val="tx1"/>
                </a:solidFill>
                <a:latin typeface="Impact" panose="020B0806030902050204" pitchFamily="34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Impact" panose="020B0806030902050204" pitchFamily="34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Impact" panose="020B0806030902050204" pitchFamily="34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Impact" panose="020B0806030902050204" pitchFamily="34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Impact" panose="020B080603090205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Impact" panose="020B080603090205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Impact" panose="020B080603090205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Impact" panose="020B080603090205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Impact" panose="020B0806030902050204" pitchFamily="34" charset="0"/>
              </a:defRPr>
            </a:lvl9pPr>
          </a:lstStyle>
          <a:p>
            <a:pPr eaLnBrk="1" hangingPunct="1">
              <a:defRPr/>
            </a:pPr>
            <a:endParaRPr kumimoji="1" lang="ru-RU" sz="2400" b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250286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</p:sldLayoutIdLst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0">
          <a:blip r:embed="rId13" cstate="print">
            <a:lum/>
          </a:blip>
          <a:srcRect/>
          <a:stretch>
            <a:fillRect l="-2000" r="-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14" name="Picture 3" descr="flag2"/>
          <p:cNvPicPr>
            <a:picLocks noChangeAspect="1" noChangeArrowheads="1"/>
          </p:cNvPicPr>
          <p:nvPr/>
        </p:nvPicPr>
        <p:blipFill>
          <a:blip r:embed="rId14"/>
          <a:srcRect/>
          <a:stretch>
            <a:fillRect/>
          </a:stretch>
        </p:blipFill>
        <p:spPr bwMode="auto">
          <a:xfrm>
            <a:off x="-48683" y="0"/>
            <a:ext cx="12240684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27" name="Rectangle 1024"/>
          <p:cNvSpPr>
            <a:spLocks noChangeArrowheads="1"/>
          </p:cNvSpPr>
          <p:nvPr/>
        </p:nvSpPr>
        <p:spPr bwMode="auto">
          <a:xfrm>
            <a:off x="0" y="1011238"/>
            <a:ext cx="12192000" cy="114300"/>
          </a:xfrm>
          <a:prstGeom prst="rect">
            <a:avLst/>
          </a:prstGeom>
          <a:gradFill rotWithShape="1">
            <a:gsLst>
              <a:gs pos="0">
                <a:srgbClr val="475E76"/>
              </a:gs>
              <a:gs pos="50000">
                <a:srgbClr val="99CCFF"/>
              </a:gs>
              <a:gs pos="100000">
                <a:srgbClr val="475E76"/>
              </a:gs>
            </a:gsLst>
            <a:lin ang="0" scaled="1"/>
          </a:gradFill>
          <a:ln>
            <a:noFill/>
          </a:ln>
        </p:spPr>
        <p:txBody>
          <a:bodyPr/>
          <a:lstStyle>
            <a:lvl1pPr eaLnBrk="0" hangingPunct="0">
              <a:defRPr sz="2000" b="1">
                <a:solidFill>
                  <a:schemeClr val="tx1"/>
                </a:solidFill>
                <a:latin typeface="Impact" panose="020B0806030902050204" pitchFamily="34" charset="0"/>
              </a:defRPr>
            </a:lvl1pPr>
            <a:lvl2pPr marL="742950" indent="-285750" eaLnBrk="0" hangingPunct="0">
              <a:defRPr sz="2000" b="1">
                <a:solidFill>
                  <a:schemeClr val="tx1"/>
                </a:solidFill>
                <a:latin typeface="Impact" panose="020B0806030902050204" pitchFamily="34" charset="0"/>
              </a:defRPr>
            </a:lvl2pPr>
            <a:lvl3pPr marL="1143000" indent="-228600" eaLnBrk="0" hangingPunct="0">
              <a:defRPr sz="2000" b="1">
                <a:solidFill>
                  <a:schemeClr val="tx1"/>
                </a:solidFill>
                <a:latin typeface="Impact" panose="020B0806030902050204" pitchFamily="34" charset="0"/>
              </a:defRPr>
            </a:lvl3pPr>
            <a:lvl4pPr marL="1600200" indent="-228600" eaLnBrk="0" hangingPunct="0">
              <a:defRPr sz="2000" b="1">
                <a:solidFill>
                  <a:schemeClr val="tx1"/>
                </a:solidFill>
                <a:latin typeface="Impact" panose="020B0806030902050204" pitchFamily="34" charset="0"/>
              </a:defRPr>
            </a:lvl4pPr>
            <a:lvl5pPr marL="2057400" indent="-228600" eaLnBrk="0" hangingPunct="0">
              <a:defRPr sz="2000" b="1">
                <a:solidFill>
                  <a:schemeClr val="tx1"/>
                </a:solidFill>
                <a:latin typeface="Impact" panose="020B080603090205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Impact" panose="020B080603090205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Impact" panose="020B080603090205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Impact" panose="020B080603090205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Impact" panose="020B0806030902050204" pitchFamily="34" charset="0"/>
              </a:defRPr>
            </a:lvl9pPr>
          </a:lstStyle>
          <a:p>
            <a:pPr eaLnBrk="1" hangingPunct="1">
              <a:defRPr/>
            </a:pPr>
            <a:endParaRPr kumimoji="1" lang="ru-RU" sz="2400" b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710480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</p:sldLayoutIdLst>
  <p:hf hdr="0" ft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https://www.mirea.ru/bitrix/templates/unlimtech/images/logo.png" TargetMode="Externa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F1D5E02-289A-4549-A4EC-0A15BBC7E26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62480" y="3422651"/>
            <a:ext cx="8067040" cy="956309"/>
          </a:xfrm>
        </p:spPr>
        <p:txBody>
          <a:bodyPr/>
          <a:lstStyle/>
          <a:p>
            <a:r>
              <a:rPr lang="ru-RU" sz="2400" b="1" cap="all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Информационные системы в страховой деятельности</a:t>
            </a:r>
          </a:p>
        </p:txBody>
      </p:sp>
      <p:pic>
        <p:nvPicPr>
          <p:cNvPr id="4" name="Picture 4" descr="https://www.mirea.ru/bitrix/templates/unlimtech/images/logo.png">
            <a:extLst>
              <a:ext uri="{FF2B5EF4-FFF2-40B4-BE49-F238E27FC236}">
                <a16:creationId xmlns:a16="http://schemas.microsoft.com/office/drawing/2014/main" id="{208FE4D8-770F-4881-89E6-777D8D6CC3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r:link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62600" y="724635"/>
            <a:ext cx="1066800" cy="1066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ABA434D-6E04-489B-860B-A7810C14E193}"/>
              </a:ext>
            </a:extLst>
          </p:cNvPr>
          <p:cNvSpPr txBox="1"/>
          <p:nvPr/>
        </p:nvSpPr>
        <p:spPr>
          <a:xfrm>
            <a:off x="1945640" y="1791435"/>
            <a:ext cx="8300720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20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МИНОБРНАУКИ РОССИИ </a:t>
            </a:r>
          </a:p>
          <a:p>
            <a:pPr lvl="0" algn="ctr"/>
            <a:r>
              <a:rPr lang="ru-RU" sz="20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Федеральное государственное бюджетное образовательное учреждение</a:t>
            </a:r>
          </a:p>
          <a:p>
            <a:pPr algn="ctr"/>
            <a:r>
              <a:rPr lang="ru-RU" sz="20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высшего образования</a:t>
            </a:r>
          </a:p>
          <a:p>
            <a:pPr algn="ctr"/>
            <a:r>
              <a:rPr lang="ru-RU" sz="20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"МИРЭА  - Российский технологический университет"</a:t>
            </a:r>
          </a:p>
          <a:p>
            <a:pPr algn="ctr"/>
            <a:r>
              <a:rPr lang="ru-RU" sz="20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РТУ  МИРЭА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EBA9E41-0318-432E-A60C-EA35C104F99C}"/>
              </a:ext>
            </a:extLst>
          </p:cNvPr>
          <p:cNvSpPr txBox="1"/>
          <p:nvPr/>
        </p:nvSpPr>
        <p:spPr>
          <a:xfrm>
            <a:off x="3078178" y="4178905"/>
            <a:ext cx="603564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Пример на основе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Citrix Virtual Apps and Desktops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3E6BCAA6-5E16-4DA7-973B-2A43CAA70377}"/>
              </a:ext>
            </a:extLst>
          </p:cNvPr>
          <p:cNvSpPr/>
          <p:nvPr/>
        </p:nvSpPr>
        <p:spPr>
          <a:xfrm>
            <a:off x="2161031" y="4579015"/>
            <a:ext cx="7869937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Боргачев Тимофей Максимович</a:t>
            </a:r>
          </a:p>
          <a:p>
            <a:pPr algn="ctr"/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ИНБО-20-23</a:t>
            </a:r>
          </a:p>
        </p:txBody>
      </p:sp>
    </p:spTree>
    <p:extLst>
      <p:ext uri="{BB962C8B-B14F-4D97-AF65-F5344CB8AC3E}">
        <p14:creationId xmlns:p14="http://schemas.microsoft.com/office/powerpoint/2010/main" val="33076138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0913D4D-6787-4161-9E20-14916D19D0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599" y="540326"/>
            <a:ext cx="10972800" cy="744307"/>
          </a:xfrm>
        </p:spPr>
        <p:txBody>
          <a:bodyPr/>
          <a:lstStyle/>
          <a:p>
            <a:r>
              <a:rPr lang="ru-RU" dirty="0"/>
              <a:t>Программа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D733E7C6-99F3-49BF-835F-7A5D09C0FBB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16743" y="1417637"/>
            <a:ext cx="6358513" cy="43184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3583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59DA30F-A14F-40F9-9793-AB139C0AEC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492298"/>
            <a:ext cx="10972800" cy="752620"/>
          </a:xfrm>
        </p:spPr>
        <p:txBody>
          <a:bodyPr/>
          <a:lstStyle/>
          <a:p>
            <a:r>
              <a:rPr lang="ru-RU" dirty="0"/>
              <a:t>Виды решений</a:t>
            </a:r>
          </a:p>
        </p:txBody>
      </p:sp>
      <p:graphicFrame>
        <p:nvGraphicFramePr>
          <p:cNvPr id="4" name="Таблица 4">
            <a:extLst>
              <a:ext uri="{FF2B5EF4-FFF2-40B4-BE49-F238E27FC236}">
                <a16:creationId xmlns:a16="http://schemas.microsoft.com/office/drawing/2014/main" id="{93C7BF38-10C0-4D98-A33B-A7C66436711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36926619"/>
              </p:ext>
            </p:extLst>
          </p:nvPr>
        </p:nvGraphicFramePr>
        <p:xfrm>
          <a:off x="447040" y="1226655"/>
          <a:ext cx="11440160" cy="4290225"/>
        </p:xfrm>
        <a:graphic>
          <a:graphicData uri="http://schemas.openxmlformats.org/drawingml/2006/table">
            <a:tbl>
              <a:tblPr firstRow="1" bandRow="1">
                <a:tableStyleId>{125E5076-3810-47DD-B79F-674D7AD40C01}</a:tableStyleId>
              </a:tblPr>
              <a:tblGrid>
                <a:gridCol w="5720080">
                  <a:extLst>
                    <a:ext uri="{9D8B030D-6E8A-4147-A177-3AD203B41FA5}">
                      <a16:colId xmlns:a16="http://schemas.microsoft.com/office/drawing/2014/main" val="2842832640"/>
                    </a:ext>
                  </a:extLst>
                </a:gridCol>
                <a:gridCol w="5720080">
                  <a:extLst>
                    <a:ext uri="{9D8B030D-6E8A-4147-A177-3AD203B41FA5}">
                      <a16:colId xmlns:a16="http://schemas.microsoft.com/office/drawing/2014/main" val="1002637764"/>
                    </a:ext>
                  </a:extLst>
                </a:gridCol>
              </a:tblGrid>
              <a:tr h="258762"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Название решения</a:t>
                      </a:r>
                    </a:p>
                  </a:txBody>
                  <a:tcP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Назначение</a:t>
                      </a:r>
                    </a:p>
                  </a:txBody>
                  <a:tcPr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7585305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ru-RU" sz="1800" kern="1200" dirty="0">
                          <a:solidFill>
                            <a:schemeClr val="dk1"/>
                          </a:solidFill>
                          <a:effectLst/>
                        </a:rPr>
                        <a:t>Citrix </a:t>
                      </a:r>
                      <a:r>
                        <a:rPr lang="ru-RU" sz="1800" kern="1200" dirty="0" err="1">
                          <a:solidFill>
                            <a:schemeClr val="dk1"/>
                          </a:solidFill>
                          <a:effectLst/>
                        </a:rPr>
                        <a:t>XenApp</a:t>
                      </a:r>
                      <a:r>
                        <a:rPr lang="ru-RU" sz="1800" kern="1200" dirty="0">
                          <a:solidFill>
                            <a:schemeClr val="dk1"/>
                          </a:solidFill>
                          <a:effectLst/>
                        </a:rPr>
                        <a:t> 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/>
                      <a:r>
                        <a:rPr lang="ru-RU" sz="1800" kern="1200" dirty="0">
                          <a:solidFill>
                            <a:schemeClr val="dk1"/>
                          </a:solidFill>
                          <a:effectLst/>
                        </a:rPr>
                        <a:t>Решение для доставки любых приложений Windows.</a:t>
                      </a:r>
                      <a:endParaRPr lang="ru-RU" sz="18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79890922"/>
                  </a:ext>
                </a:extLst>
              </a:tr>
              <a:tr h="564210">
                <a:tc>
                  <a:txBody>
                    <a:bodyPr/>
                    <a:lstStyle/>
                    <a:p>
                      <a:pPr algn="ctr"/>
                      <a:r>
                        <a:rPr lang="ru-RU" sz="1800" kern="1200" dirty="0" err="1">
                          <a:solidFill>
                            <a:schemeClr val="dk1"/>
                          </a:solidFill>
                          <a:effectLst/>
                        </a:rPr>
                        <a:t>XenServer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/>
                      <a:r>
                        <a:rPr lang="ru-RU" sz="1800" kern="1200" dirty="0">
                          <a:solidFill>
                            <a:schemeClr val="dk1"/>
                          </a:solidFill>
                          <a:effectLst/>
                        </a:rPr>
                        <a:t>Монитор виртуальных машин на основе гипервизора </a:t>
                      </a:r>
                      <a:r>
                        <a:rPr lang="ru-RU" sz="1800" kern="1200" dirty="0" err="1">
                          <a:solidFill>
                            <a:schemeClr val="dk1"/>
                          </a:solidFill>
                          <a:effectLst/>
                        </a:rPr>
                        <a:t>Xen</a:t>
                      </a:r>
                      <a:r>
                        <a:rPr lang="ru-RU" sz="1800" kern="1200" dirty="0">
                          <a:solidFill>
                            <a:schemeClr val="dk1"/>
                          </a:solidFill>
                          <a:effectLst/>
                        </a:rPr>
                        <a:t>.</a:t>
                      </a:r>
                      <a:endParaRPr lang="ru-RU" sz="18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68126841"/>
                  </a:ext>
                </a:extLst>
              </a:tr>
              <a:tr h="564210">
                <a:tc>
                  <a:txBody>
                    <a:bodyPr/>
                    <a:lstStyle/>
                    <a:p>
                      <a:pPr algn="ctr"/>
                      <a:r>
                        <a:rPr lang="ru-RU" sz="1800" kern="1200" dirty="0" err="1">
                          <a:solidFill>
                            <a:schemeClr val="dk1"/>
                          </a:solidFill>
                          <a:effectLst/>
                        </a:rPr>
                        <a:t>XenCenter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/>
                      <a:r>
                        <a:rPr lang="ru-RU" sz="1800" kern="1200" dirty="0">
                          <a:solidFill>
                            <a:schemeClr val="dk1"/>
                          </a:solidFill>
                          <a:effectLst/>
                        </a:rPr>
                        <a:t>Приложение - консоль управления. Позволяет управлять хостами </a:t>
                      </a:r>
                      <a:r>
                        <a:rPr lang="ru-RU" sz="1800" kern="1200" dirty="0" err="1">
                          <a:solidFill>
                            <a:schemeClr val="dk1"/>
                          </a:solidFill>
                          <a:effectLst/>
                        </a:rPr>
                        <a:t>XenServer</a:t>
                      </a:r>
                      <a:r>
                        <a:rPr lang="ru-RU" sz="1800" kern="1200" dirty="0">
                          <a:solidFill>
                            <a:schemeClr val="dk1"/>
                          </a:solidFill>
                          <a:effectLst/>
                        </a:rPr>
                        <a:t>.</a:t>
                      </a:r>
                      <a:endParaRPr lang="ru-RU" sz="18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11057287"/>
                  </a:ext>
                </a:extLst>
              </a:tr>
              <a:tr h="564210">
                <a:tc>
                  <a:txBody>
                    <a:bodyPr/>
                    <a:lstStyle/>
                    <a:p>
                      <a:pPr algn="ctr"/>
                      <a:r>
                        <a:rPr lang="ru-RU" sz="1800" kern="1200" dirty="0" err="1">
                          <a:solidFill>
                            <a:schemeClr val="dk1"/>
                          </a:solidFill>
                          <a:effectLst/>
                        </a:rPr>
                        <a:t>Netscaler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/>
                      <a:r>
                        <a:rPr lang="ru-RU" sz="1800" kern="1200" dirty="0">
                          <a:solidFill>
                            <a:schemeClr val="dk1"/>
                          </a:solidFill>
                          <a:effectLst/>
                        </a:rPr>
                        <a:t>Доступность централизованных приложений с балансировкой нагрузки и управление трафиком.</a:t>
                      </a:r>
                      <a:endParaRPr lang="ru-RU" sz="18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48799832"/>
                  </a:ext>
                </a:extLst>
              </a:tr>
              <a:tr h="449745">
                <a:tc>
                  <a:txBody>
                    <a:bodyPr/>
                    <a:lstStyle/>
                    <a:p>
                      <a:pPr algn="ctr"/>
                      <a:r>
                        <a:rPr lang="ru-RU" sz="1800" kern="1200" dirty="0">
                          <a:solidFill>
                            <a:schemeClr val="dk1"/>
                          </a:solidFill>
                          <a:effectLst/>
                        </a:rPr>
                        <a:t>Citrix </a:t>
                      </a:r>
                      <a:r>
                        <a:rPr lang="ru-RU" sz="1800" kern="1200" dirty="0" err="1">
                          <a:solidFill>
                            <a:schemeClr val="dk1"/>
                          </a:solidFill>
                          <a:effectLst/>
                        </a:rPr>
                        <a:t>Receiver</a:t>
                      </a:r>
                      <a:r>
                        <a:rPr lang="ru-RU" sz="1800" kern="1200" dirty="0">
                          <a:solidFill>
                            <a:schemeClr val="dk1"/>
                          </a:solidFill>
                          <a:effectLst/>
                        </a:rPr>
                        <a:t> 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/>
                      <a:r>
                        <a:rPr lang="ru-RU" sz="1800" kern="1200" dirty="0">
                          <a:solidFill>
                            <a:schemeClr val="dk1"/>
                          </a:solidFill>
                          <a:effectLst/>
                        </a:rPr>
                        <a:t>Клиент доставки ИТ-услуг пользователям.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84253403"/>
                  </a:ext>
                </a:extLst>
              </a:tr>
              <a:tr h="564210">
                <a:tc>
                  <a:txBody>
                    <a:bodyPr/>
                    <a:lstStyle/>
                    <a:p>
                      <a:pPr algn="ctr"/>
                      <a:r>
                        <a:rPr lang="ru-RU" sz="1800" kern="1200" dirty="0" err="1">
                          <a:solidFill>
                            <a:schemeClr val="dk1"/>
                          </a:solidFill>
                          <a:effectLst/>
                        </a:rPr>
                        <a:t>XenClient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800" kern="1200" dirty="0">
                          <a:solidFill>
                            <a:schemeClr val="dk1"/>
                          </a:solidFill>
                          <a:effectLst/>
                        </a:rPr>
                        <a:t>Гипервизор на основе </a:t>
                      </a:r>
                      <a:r>
                        <a:rPr lang="ru-RU" sz="1800" kern="1200" dirty="0" err="1">
                          <a:solidFill>
                            <a:schemeClr val="dk1"/>
                          </a:solidFill>
                          <a:effectLst/>
                        </a:rPr>
                        <a:t>Xen</a:t>
                      </a:r>
                      <a:r>
                        <a:rPr lang="ru-RU" sz="1800" kern="1200" dirty="0">
                          <a:solidFill>
                            <a:schemeClr val="dk1"/>
                          </a:solidFill>
                          <a:effectLst/>
                        </a:rPr>
                        <a:t> для пользовательских машин. Позволяет запускать несколько гостевых ОС на компьютере пользователя.</a:t>
                      </a:r>
                      <a:endParaRPr lang="ru-RU" sz="18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863291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673906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9CCAE04-5C8E-4B80-B9E9-9DBE5D6ACC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568960"/>
            <a:ext cx="10972800" cy="757238"/>
          </a:xfrm>
        </p:spPr>
        <p:txBody>
          <a:bodyPr/>
          <a:lstStyle/>
          <a:p>
            <a:r>
              <a:rPr lang="ru-RU" dirty="0"/>
              <a:t>Компания - разработчик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3D40D531-B805-491D-8B5E-2F04E540222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02880" y="1634552"/>
            <a:ext cx="3027680" cy="941419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F91688EA-3FD2-409A-B560-D7114F28F28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197" y="1629154"/>
            <a:ext cx="5727876" cy="3786126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A56D346F-7256-4BE0-955C-A7713129A04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3680" y="2971963"/>
            <a:ext cx="5301032" cy="22514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92299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16B4876-D2E0-46B6-9B5C-B7056D8780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487680"/>
            <a:ext cx="10972800" cy="929958"/>
          </a:xfrm>
        </p:spPr>
        <p:txBody>
          <a:bodyPr/>
          <a:lstStyle/>
          <a:p>
            <a:r>
              <a:rPr lang="ru-RU" dirty="0"/>
              <a:t>Основной функционал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6D8063F9-FCA1-4180-A982-EEAF9C851B0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86280" y="1175074"/>
            <a:ext cx="8219440" cy="45078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83254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D3A8D45-7041-4CDF-958D-AB59E3C066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498764"/>
            <a:ext cx="10972800" cy="918873"/>
          </a:xfrm>
        </p:spPr>
        <p:txBody>
          <a:bodyPr/>
          <a:lstStyle/>
          <a:p>
            <a:r>
              <a:rPr lang="ru-RU" dirty="0"/>
              <a:t>Интерфейс программы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071E642B-CF3B-41C8-9854-DD2677B247D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0" t="784" r="1753" b="943"/>
          <a:stretch/>
        </p:blipFill>
        <p:spPr>
          <a:xfrm>
            <a:off x="1928553" y="1330036"/>
            <a:ext cx="8478982" cy="43309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74884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000EF5B-9EB6-42B5-90B1-6DBFE0C7F7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532014"/>
            <a:ext cx="10972800" cy="885623"/>
          </a:xfrm>
        </p:spPr>
        <p:txBody>
          <a:bodyPr/>
          <a:lstStyle/>
          <a:p>
            <a:r>
              <a:rPr lang="ru-RU" dirty="0"/>
              <a:t>Стоимость ПО</a:t>
            </a:r>
          </a:p>
        </p:txBody>
      </p:sp>
      <p:graphicFrame>
        <p:nvGraphicFramePr>
          <p:cNvPr id="4" name="Таблица 4">
            <a:extLst>
              <a:ext uri="{FF2B5EF4-FFF2-40B4-BE49-F238E27FC236}">
                <a16:creationId xmlns:a16="http://schemas.microsoft.com/office/drawing/2014/main" id="{F4DC5AD6-581C-45D2-824C-F265494B637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22037661"/>
              </p:ext>
            </p:extLst>
          </p:nvPr>
        </p:nvGraphicFramePr>
        <p:xfrm>
          <a:off x="473825" y="1271849"/>
          <a:ext cx="11454939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18313">
                  <a:extLst>
                    <a:ext uri="{9D8B030D-6E8A-4147-A177-3AD203B41FA5}">
                      <a16:colId xmlns:a16="http://schemas.microsoft.com/office/drawing/2014/main" val="1716303631"/>
                    </a:ext>
                  </a:extLst>
                </a:gridCol>
                <a:gridCol w="3818313">
                  <a:extLst>
                    <a:ext uri="{9D8B030D-6E8A-4147-A177-3AD203B41FA5}">
                      <a16:colId xmlns:a16="http://schemas.microsoft.com/office/drawing/2014/main" val="188865198"/>
                    </a:ext>
                  </a:extLst>
                </a:gridCol>
                <a:gridCol w="3818313">
                  <a:extLst>
                    <a:ext uri="{9D8B030D-6E8A-4147-A177-3AD203B41FA5}">
                      <a16:colId xmlns:a16="http://schemas.microsoft.com/office/drawing/2014/main" val="3789603513"/>
                    </a:ext>
                  </a:extLst>
                </a:gridCol>
              </a:tblGrid>
              <a:tr h="356062">
                <a:tc>
                  <a:txBody>
                    <a:bodyPr/>
                    <a:lstStyle/>
                    <a:p>
                      <a:r>
                        <a:rPr lang="ru-RU" dirty="0">
                          <a:solidFill>
                            <a:schemeClr val="tx1"/>
                          </a:solidFill>
                        </a:rPr>
                        <a:t>Компонент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dirty="0">
                          <a:solidFill>
                            <a:schemeClr val="tx1"/>
                          </a:solidFill>
                        </a:rPr>
                        <a:t>Описание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dirty="0">
                          <a:solidFill>
                            <a:schemeClr val="tx1"/>
                          </a:solidFill>
                        </a:rPr>
                        <a:t>Стоимость (примерная)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48392080"/>
                  </a:ext>
                </a:extLst>
              </a:tr>
              <a:tr h="356062">
                <a:tc>
                  <a:txBody>
                    <a:bodyPr/>
                    <a:lstStyle/>
                    <a:p>
                      <a:r>
                        <a:rPr lang="ru-RU"/>
                        <a:t>Лицензии </a:t>
                      </a:r>
                      <a:r>
                        <a:rPr lang="en-US"/>
                        <a:t>Citrix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User/Device </a:t>
                      </a:r>
                      <a:r>
                        <a:rPr lang="ru-RU"/>
                        <a:t>или </a:t>
                      </a:r>
                      <a:r>
                        <a:rPr lang="en-US"/>
                        <a:t>Concurrent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/>
                        <a:t>От $150 до $450 за лицензию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28381276"/>
                  </a:ext>
                </a:extLst>
              </a:tr>
              <a:tr h="623108">
                <a:tc>
                  <a:txBody>
                    <a:bodyPr/>
                    <a:lstStyle/>
                    <a:p>
                      <a:r>
                        <a:rPr lang="ru-RU"/>
                        <a:t>Серверное оборудование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/>
                        <a:t>Сервера, СХД, сетевое оборудование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/>
                        <a:t>$15,000 - $50,000+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43436036"/>
                  </a:ext>
                </a:extLst>
              </a:tr>
              <a:tr h="623108">
                <a:tc>
                  <a:txBody>
                    <a:bodyPr/>
                    <a:lstStyle/>
                    <a:p>
                      <a:r>
                        <a:rPr lang="ru-RU"/>
                        <a:t>Программное обеспечение для виртуализации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Citrix Hypervisor, VMware </a:t>
                      </a:r>
                      <a:r>
                        <a:rPr lang="ru-RU"/>
                        <a:t>или </a:t>
                      </a:r>
                      <a:r>
                        <a:rPr lang="en-US"/>
                        <a:t>Hyper-V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/>
                        <a:t>$500 - $10,000+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97262308"/>
                  </a:ext>
                </a:extLst>
              </a:tr>
              <a:tr h="356062">
                <a:tc>
                  <a:txBody>
                    <a:bodyPr/>
                    <a:lstStyle/>
                    <a:p>
                      <a:r>
                        <a:rPr lang="ru-RU"/>
                        <a:t>Сетевое оборудование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VPN, Citrix Gateway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/>
                        <a:t>$3,000 - $15,000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24273524"/>
                  </a:ext>
                </a:extLst>
              </a:tr>
              <a:tr h="623108">
                <a:tc>
                  <a:txBody>
                    <a:bodyPr/>
                    <a:lstStyle/>
                    <a:p>
                      <a:r>
                        <a:rPr lang="ru-RU"/>
                        <a:t>Инфраструктура хранения данных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/>
                        <a:t>СХД и резервное копирование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/>
                        <a:t>$5,000 - $20,000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39195059"/>
                  </a:ext>
                </a:extLst>
              </a:tr>
              <a:tr h="623108">
                <a:tc>
                  <a:txBody>
                    <a:bodyPr/>
                    <a:lstStyle/>
                    <a:p>
                      <a:r>
                        <a:rPr lang="ru-RU"/>
                        <a:t>Услуги внедрения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/>
                        <a:t>Проектирование, настройка и развертывание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/>
                        <a:t>$10,000 - $30,000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34529601"/>
                  </a:ext>
                </a:extLst>
              </a:tr>
              <a:tr h="356062">
                <a:tc>
                  <a:txBody>
                    <a:bodyPr/>
                    <a:lstStyle/>
                    <a:p>
                      <a:r>
                        <a:rPr lang="ru-RU"/>
                        <a:t>Поддержка и сопровождение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/>
                        <a:t>Техподдержка, апгрейды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/>
                        <a:t>$5,000 - $20,000 ежегодно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0177026"/>
                  </a:ext>
                </a:extLst>
              </a:tr>
              <a:tr h="356062">
                <a:tc>
                  <a:txBody>
                    <a:bodyPr/>
                    <a:lstStyle/>
                    <a:p>
                      <a:r>
                        <a:rPr lang="ru-RU"/>
                        <a:t>Обучение сотрудников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Тренинги и сертификация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$2,000 - $5,000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5045794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240925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DBB8CBD-45ED-4B02-A774-35F5EA7E0D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482138"/>
            <a:ext cx="10972800" cy="935500"/>
          </a:xfrm>
        </p:spPr>
        <p:txBody>
          <a:bodyPr/>
          <a:lstStyle/>
          <a:p>
            <a:r>
              <a:rPr lang="ru-RU" dirty="0"/>
              <a:t>Диаграмма компонентов стоимости</a:t>
            </a:r>
          </a:p>
        </p:txBody>
      </p:sp>
      <p:graphicFrame>
        <p:nvGraphicFramePr>
          <p:cNvPr id="6" name="Объект 5">
            <a:extLst>
              <a:ext uri="{FF2B5EF4-FFF2-40B4-BE49-F238E27FC236}">
                <a16:creationId xmlns:a16="http://schemas.microsoft.com/office/drawing/2014/main" id="{382FE1BA-8924-4281-B874-FBD1CB2C100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90471718"/>
              </p:ext>
            </p:extLst>
          </p:nvPr>
        </p:nvGraphicFramePr>
        <p:xfrm>
          <a:off x="518160" y="1163782"/>
          <a:ext cx="11155680" cy="53136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369753688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09125B2-B3D3-4A89-B173-2CE35DCAD9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497840"/>
            <a:ext cx="10972800" cy="818198"/>
          </a:xfrm>
        </p:spPr>
        <p:txBody>
          <a:bodyPr/>
          <a:lstStyle/>
          <a:p>
            <a:r>
              <a:rPr lang="ru-RU" dirty="0"/>
              <a:t>Преимущества </a:t>
            </a:r>
            <a:r>
              <a:rPr lang="en-US" dirty="0"/>
              <a:t>Citrix</a:t>
            </a:r>
            <a:endParaRPr lang="ru-RU" dirty="0"/>
          </a:p>
        </p:txBody>
      </p:sp>
      <p:graphicFrame>
        <p:nvGraphicFramePr>
          <p:cNvPr id="6" name="Объект 5">
            <a:extLst>
              <a:ext uri="{FF2B5EF4-FFF2-40B4-BE49-F238E27FC236}">
                <a16:creationId xmlns:a16="http://schemas.microsoft.com/office/drawing/2014/main" id="{F732ADD0-DDF1-4B9A-83E0-98E1CC80498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74933626"/>
              </p:ext>
            </p:extLst>
          </p:nvPr>
        </p:nvGraphicFramePr>
        <p:xfrm>
          <a:off x="609600" y="1316038"/>
          <a:ext cx="10972800" cy="452596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623244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A410DF8-A408-4AF3-8089-1B9B9042D7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528320"/>
            <a:ext cx="10972800" cy="889318"/>
          </a:xfrm>
        </p:spPr>
        <p:txBody>
          <a:bodyPr/>
          <a:lstStyle/>
          <a:p>
            <a:r>
              <a:rPr lang="ru-RU" dirty="0"/>
              <a:t>Внедрение ПО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DED9958B-5CD1-4382-8285-3779D7033EB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80080" y="1417638"/>
            <a:ext cx="6002715" cy="42635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668518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4F952A3-F3DE-4EBE-AAE0-44AA472FA4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857500"/>
            <a:ext cx="10972800" cy="1143000"/>
          </a:xfrm>
        </p:spPr>
        <p:txBody>
          <a:bodyPr/>
          <a:lstStyle/>
          <a:p>
            <a:r>
              <a:rPr lang="ru-RU" dirty="0"/>
              <a:t>Спасибо </a:t>
            </a:r>
            <a:r>
              <a:rPr lang="ru-RU"/>
              <a:t>за внимание!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544728791"/>
      </p:ext>
    </p:extLst>
  </p:cSld>
  <p:clrMapOvr>
    <a:masterClrMapping/>
  </p:clrMapOvr>
</p:sld>
</file>

<file path=ppt/theme/theme1.xml><?xml version="1.0" encoding="utf-8"?>
<a:theme xmlns:a="http://schemas.openxmlformats.org/drawingml/2006/main" name="1_Default Design">
  <a:themeElements>
    <a:clrScheme name="1_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1_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ru-RU" sz="20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Impact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ru-RU" sz="20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Impact" pitchFamily="34" charset="0"/>
          </a:defRPr>
        </a:defPPr>
      </a:lstStyle>
    </a:lnDef>
  </a:objectDefaults>
  <a:extraClrSchemeLst>
    <a:extraClrScheme>
      <a:clrScheme name="1_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2_Default Design">
  <a:themeElements>
    <a:clrScheme name="1_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1_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ru-RU" sz="20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Impact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ru-RU" sz="20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Impact" pitchFamily="34" charset="0"/>
          </a:defRPr>
        </a:defPPr>
      </a:lstStyle>
    </a:lnDef>
  </a:objectDefaults>
  <a:extraClrSchemeLst>
    <a:extraClrScheme>
      <a:clrScheme name="1_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Prezentatsia_shablon (1)</Template>
  <TotalTime>0</TotalTime>
  <Words>239</Words>
  <Application>Microsoft Office PowerPoint</Application>
  <PresentationFormat>Широкоэкранный</PresentationFormat>
  <Paragraphs>65</Paragraphs>
  <Slides>11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2</vt:i4>
      </vt:variant>
      <vt:variant>
        <vt:lpstr>Заголовки слайдов</vt:lpstr>
      </vt:variant>
      <vt:variant>
        <vt:i4>11</vt:i4>
      </vt:variant>
    </vt:vector>
  </HeadingPairs>
  <TitlesOfParts>
    <vt:vector size="17" baseType="lpstr">
      <vt:lpstr>Arial</vt:lpstr>
      <vt:lpstr>Calibri</vt:lpstr>
      <vt:lpstr>Impact</vt:lpstr>
      <vt:lpstr>Times New Roman</vt:lpstr>
      <vt:lpstr>1_Default Design</vt:lpstr>
      <vt:lpstr>2_Default Design</vt:lpstr>
      <vt:lpstr>Информационные системы в страховой деятельности</vt:lpstr>
      <vt:lpstr>Программа</vt:lpstr>
      <vt:lpstr>Виды решений</vt:lpstr>
      <vt:lpstr>Компания - разработчик</vt:lpstr>
      <vt:lpstr>Основной функционал</vt:lpstr>
      <vt:lpstr>Интерфейс программы</vt:lpstr>
      <vt:lpstr>Стоимость ПО</vt:lpstr>
      <vt:lpstr>Диаграмма компонентов стоимости</vt:lpstr>
      <vt:lpstr>Преимущества Citrix</vt:lpstr>
      <vt:lpstr>Внедрение ПО</vt:lpstr>
      <vt:lpstr>Спасибо за внимание!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Информационные системы в страховой деятельности</dc:title>
  <dc:creator>Тимофей Боргачев</dc:creator>
  <cp:lastModifiedBy>Тимофей Боргачев</cp:lastModifiedBy>
  <cp:revision>19</cp:revision>
  <dcterms:created xsi:type="dcterms:W3CDTF">2024-10-28T06:29:46Z</dcterms:created>
  <dcterms:modified xsi:type="dcterms:W3CDTF">2024-11-11T06:55:44Z</dcterms:modified>
</cp:coreProperties>
</file>